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</p:sldMasterIdLst>
  <p:notesMasterIdLst>
    <p:notesMasterId r:id="rId24"/>
  </p:notesMasterIdLst>
  <p:sldIdLst>
    <p:sldId id="256" r:id="rId3"/>
    <p:sldId id="277" r:id="rId4"/>
    <p:sldId id="259" r:id="rId5"/>
    <p:sldId id="261" r:id="rId6"/>
    <p:sldId id="260" r:id="rId7"/>
    <p:sldId id="262" r:id="rId8"/>
    <p:sldId id="276" r:id="rId9"/>
    <p:sldId id="263" r:id="rId10"/>
    <p:sldId id="264" r:id="rId11"/>
    <p:sldId id="265" r:id="rId12"/>
    <p:sldId id="275" r:id="rId13"/>
    <p:sldId id="267" r:id="rId14"/>
    <p:sldId id="268" r:id="rId15"/>
    <p:sldId id="278" r:id="rId16"/>
    <p:sldId id="279" r:id="rId17"/>
    <p:sldId id="269" r:id="rId18"/>
    <p:sldId id="271" r:id="rId19"/>
    <p:sldId id="273" r:id="rId20"/>
    <p:sldId id="280" r:id="rId21"/>
    <p:sldId id="272" r:id="rId22"/>
    <p:sldId id="274" r:id="rId2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10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6T03:32:11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24575,'12'-1'0,"-1"1"0,0 0 0,1 0 0,-1 1 0,0 1 0,0 0 0,0 1 0,0 0 0,0 0 0,-1 1 0,1 0 0,-1 1 0,10 6 0,1 4 0,0 0 0,-2 0 0,0 2 0,-1 1 0,0 0 0,-1 1 0,-2 1 0,0 0 0,-1 1 0,-1 1 0,-1 0 0,0 1 0,8 26 0,-16-26 0,0 1 0,-1 0 0,-2 0 0,0 0 0,-5 40 0,1 8 0,2-52 0,-1 0 0,-1 0 0,-1 0 0,-1 0 0,-1-1 0,0 0 0,-2 0 0,0-1 0,-1 1 0,-20 29 0,21-33 0,4-8 0,1-1 0,-1 1 0,0-1 0,0 0 0,-1 0 0,0-1 0,0 1 0,0-1 0,-1 0 0,1 0 0,-8 4 0,-74 54-1365,75-57-5461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6T03:32:14.6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24575,'-1'37'0,"0"-25"0,0-1 0,0 0 0,2 1 0,-1-1 0,2 1 0,4 18 0,-6-28 0,1 0 0,0 0 0,0 0 0,0 0 0,0-1 0,1 1 0,-1 0 0,0-1 0,1 1 0,-1-1 0,1 0 0,0 1 0,-1-1 0,1 0 0,0 0 0,0 0 0,-1 0 0,1 0 0,0-1 0,0 1 0,0 0 0,0-1 0,0 0 0,0 1 0,0-1 0,0 0 0,1 0 0,-1 0 0,0 0 0,0 0 0,0-1 0,0 1 0,0-1 0,0 1 0,0-1 0,0 0 0,0 0 0,2-1 0,11-5 0,-1 0 0,0 0 0,24-18 0,-30 19 0,31-21-1365,-22 17-5461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6T03:32:20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204 0 24575,'-11'2'0,"0"0"0,1-1 0,-1-1 0,-21-1 0,21 0 0,1 1 0,-1 0 0,0 0 0,0 1 0,-13 3 0,14-1 0,5-2 0,1-1 0,0 2 0,1-1 0,-1 0 0,0 1 0,0 0 0,-5 3 0,9-5 0,-1 0 0,1 1 0,0-1 0,-1 0 0,1 1 0,0-1 0,0 0 0,-1 1 0,1-1 0,0 1 0,0-1 0,0 1 0,-1-1 0,1 1 0,0-1 0,0 0 0,0 1 0,0-1 0,0 1 0,0-1 0,0 1 0,0-1 0,0 1 0,0-1 0,0 1 0,1 0 0,14 17 0,42 19-20,-49-32-84,1-1 1,-1 1-1,1 0 1,-1 1-1,-1 0 1,1 0 0,-1 0-1,0 1 1,-1 0-1,0 1 1,0-1-1,10 17 1,-12-11-6723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6T03:32:30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6T03:32:43.1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329 1 24575,'-134'10'0,"5"0"0,126-10 0,1 0 0,-1 0 0,0 0 0,1 0 0,-1 0 0,0 1 0,1-1 0,-1 1 0,1 0 0,-1 0 0,1 0 0,-1 0 0,1 0 0,-1 0 0,1 0 0,0 1 0,0 0 0,0-1 0,0 1 0,-2 2 0,2 0 0,0-1 0,0 1 0,1 0 0,0 0 0,0 0 0,0 0 0,0 0 0,0 0 0,1 0 0,0 0 0,0 1 0,0 5 0,4 46 0,11 57 0,-13-97 0,4 49 0,-3 0 0,-5 74 0,-1-25 0,1 24 0,5 147 0,-3-278 0,0-1 0,1 1 0,0-1 0,0 0 0,1 1 0,0-1 0,0 0 0,0 0 0,1 0 0,3 6 0,-4-9 0,1-1 0,-1 1 0,1-1 0,0 0 0,0 0 0,0 0 0,0 0 0,0 0 0,0-1 0,0 1 0,1-1 0,-1 0 0,0 0 0,1 0 0,-1 0 0,1-1 0,-1 1 0,1-1 0,5 0 0,186-4-1365,-178 4-5461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6T05:06:13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1160 264 24575,'200'7'0,"267"44"0,-612-46 0,-644 56 0,-12 0 0,781-61 0,10 1 0,1-1 0,0 0 0,0 0 0,-1-1 0,-13-4 0,23 5 0,0 0 0,1 0 0,-1 0 0,0 0 0,0 0 0,0 0 0,1 0 0,-1 0 0,0 0 0,0-1 0,0 1 0,0 0 0,1 0 0,-1 0 0,0 0 0,0 0 0,0-1 0,0 1 0,0 0 0,0 0 0,1 0 0,-1-1 0,0 1 0,0 0 0,0 0 0,0 0 0,0-1 0,0 1 0,0 0 0,0 0 0,0 0 0,0-1 0,0 1 0,0 0 0,0 0 0,0-1 0,0 1 0,0 0 0,0 0 0,0 0 0,0-1 0,-1 1 0,1 0 0,0 0 0,0 0 0,0 0 0,0-1 0,0 1 0,0 0 0,-1 0 0,1 0 0,0 0 0,0-1 0,0 1 0,0 0 0,-1 0 0,1 0 0,0 0 0,0 0 0,0 0 0,-1 0 0,1 0 0,0 0 0,0 0 0,-1 0 0,1 0 0,0 0 0,0 0 0,18-8 0,78-11 0,117-10 0,-113 18 0,237-33 0,521-54 0,-850 98 0,44-3 0,-47 6 0,-32 5 0,-409 132 0,159-44 0,231-85 0,-79 11 0,50-11 0,75-11 0,-1 0 0,1 0 0,-1 0 0,1 0 0,-1 0 0,1 0 0,-1 0 0,0 0 0,1 0 0,-1 0 0,1 0 0,-1 0 0,1 0 0,-1 0 0,1 0 0,-1 1 0,1-1 0,-1 0 0,1 0 0,-1 1 0,1-1 0,-1 0 0,1 1 0,-1-1 0,1 0 0,-1 1 0,1-1 0,0 1 0,-1-1 0,1 1 0,0-1 0,0 1 0,-1-1 0,1 1 0,0-1 0,-1 1 0,22 9 0,38 3 0,30 2 0,145 4 0,-186-19 0,1-2 0,-1-2 0,1-2 0,77-21 0,-123 27 0,-1-1 0,1 1 0,-1-1 0,1 0 0,-1 0 0,1 0 0,-1 0 0,1 0 0,-1-1 0,0 1 0,0-1 0,0 1 0,0-1 0,0 0 0,0 0 0,0 0 0,0 0 0,-1 0 0,1 0 0,-1 0 0,2-5 0,-3 5 0,0 0 0,0-1 0,0 1 0,0 0 0,-1-1 0,1 1 0,-1 0 0,0-1 0,0 1 0,0 0 0,0 0 0,0 0 0,0 0 0,0 0 0,-1 0 0,1 0 0,-1 0 0,1 1 0,-1-1 0,0 0 0,0 1 0,0-1 0,0 1 0,-2-2 0,-29-17 0,0 1 0,-2 2 0,1 2 0,-2 0 0,-66-16 0,-15-7 0,80 27 0,28 9 0,0-1 0,1 1 0,-1-1 0,0-1 0,1 0 0,0 0 0,-10-7 0,21 6 0,12 1 0,14 1 0,75 1 0,1 5 0,206 31 0,-296-29 0,-31-4 0,-34-3 0,-70-12 0,-145-38 0,219 36 0,33 8 0,35 9 0,248 40 0,60 7 0,-319-47 0,-13-5 0,-28-8 0,-51-15 0,-81-7 0,100 23 0,-70-22 0,99 16 0,30 8 0,22 1 0,13 5 0,0 1 0,0 2 0,-1 1 0,46 7 0,18 0 0,-68-7 0,-16-1 0,0 0 0,0 1 0,0 0 0,0 1 0,20 5 0,-48-3 0,-14-2 0,-244-45 0,99 13 0,369 31 0,140 17 0,-570-8 0,14 0 0,135-11 0,78 1 0,11 0 0,47 0 0,36 1 0,98-2 0,-180 1 0,0 0 0,0 0 0,0 0 0,0-1 0,0 1 0,0 0 0,0-1 0,0 1 0,0-1 0,0 0 0,0 1 0,3-3 0,-5 2 0,0 1 0,0-1 0,0 1 0,0-1 0,0 1 0,0-1 0,-1 1 0,1-1 0,0 1 0,0 0 0,0-1 0,-1 1 0,1-1 0,0 1 0,-1 0 0,1-1 0,0 1 0,-1 0 0,1-1 0,-1 1 0,1 0 0,-1-1 0,1 1 0,0 0 0,-1 0 0,1 0 0,-1-1 0,1 1 0,-1 0 0,0 0 0,-63-22 0,54 19 0,-79-18 0,62 15 0,0 0 0,-52-20 0,79 26 0,0 0 0,-1 0 0,1 0 0,0 0 0,0 0 0,-1 0 0,1 0 0,0 0 0,-1 0 0,1 0 0,0 0 0,0 0 0,-1 0 0,1 0 0,0 0 0,0-1 0,-1 1 0,1 0 0,0 0 0,0 0 0,0 0 0,-1 0 0,1-1 0,0 1 0,0 0 0,0 0 0,-1 0 0,1-1 0,0 1 0,0 0 0,0 0 0,0-1 0,0 1 0,0 0 0,-1 0 0,1-1 0,0 1 0,0 0 0,0 0 0,0-1 0,0 1 0,0 0 0,0 0 0,0-1 0,0 1 0,0 0 0,0 0 0,0-1 0,0 1 0,1 0 0,-1 0 0,0-1 0,0 1 0,0 0 0,0 0 0,0-1 0,0 1 0,1 0 0,21-6 0,34 2 0,54 7 0,0 5 0,114 23 0,-484-62 0,195 25 0,60 5 0,0 1 0,-1-1 0,1 2 0,0-1 0,-1 0 0,-7 3 0,12-3 0,1 0 0,-1 0 0,1 0 0,0 0 0,-1 0 0,1 1 0,0-1 0,-1 0 0,1 0 0,0 0 0,-1 0 0,1 1 0,0-1 0,0 0 0,-1 0 0,1 1 0,0-1 0,0 0 0,-1 1 0,1-1 0,0 0 0,0 1 0,0-1 0,0 0 0,0 1 0,-1-1 0,1 0 0,0 1 0,0-1 0,0 1 0,0-1 0,0 0 0,0 1 0,0 0 0,18 18 0,5-5 0,0 0 0,0-2 0,1 0 0,1-2 0,35 11 0,131 22 0,-206-37 0,-18-1 0,-128 7 0,-126 15 0,281-26 0,-5 0 0,1 1 0,-1 0 0,1 0 0,0 1 0,0 1 0,-17 7 0,26-11 0,1 1 0,-1-1 0,1 0 0,-1 1 0,1-1 0,-1 0 0,1 1 0,-1-1 0,1 1 0,-1-1 0,1 1 0,0-1 0,-1 1 0,1-1 0,0 1 0,-1-1 0,1 1 0,0 0 0,0-1 0,0 1 0,-1-1 0,1 1 0,0 0 0,0-1 0,0 1 0,0-1 0,0 1 0,0 0 0,0-1 0,0 1 0,0 0 0,1-1 0,-1 1 0,0-1 0,0 1 0,1 0 0,-1-1 0,0 1 0,0-1 0,1 1 0,-1-1 0,1 1 0,-1-1 0,0 1 0,1-1 0,-1 0 0,1 1 0,-1-1 0,1 1 0,-1-1 0,1 0 0,0 0 0,-1 1 0,1-1 0,-1 0 0,2 0 0,35 18 0,15-2 0,66 10 0,-31-7 0,-155-21 0,49 5 0,55 4 0,50 3 0,135 20 0,-208-30 0,-22-8 0,-24-7 0,-26-3 0,-75-12 0,60 15 0,178 11 0,-91 4 0,3 1 0,0-1 0,0-1 0,0 0 0,-1-1 0,28-6 0,-42 8 0,-1 0 0,0 0 0,0 0 0,0 0 0,1 0 0,-1 0 0,0 0 0,0 0 0,1 0 0,-1-1 0,0 1 0,0 0 0,0 0 0,1 0 0,-1 0 0,0 0 0,0 0 0,0 0 0,1-1 0,-1 1 0,0 0 0,0 0 0,0 0 0,0 0 0,0-1 0,1 1 0,-1 0 0,0 0 0,0 0 0,0-1 0,0 1 0,0 0 0,0 0 0,0-1 0,0 1 0,0 0 0,0 0 0,0-1 0,0 1 0,0 0 0,0 0 0,0 0 0,0-1 0,0 1 0,0 0 0,0-1 0,-13-6 0,-18-2 0,31 9 0,-53-3 0,52 3 0,0 0 0,0 0 0,0 0 0,0 0 0,0 0 0,0 1 0,-1-1 0,1 0 0,0 1 0,0-1 0,0 0 0,0 1 0,0-1 0,1 1 0,-1 0 0,0-1 0,-1 2 0,2-1 0,0 0 0,0-1 0,0 1 0,0 0 0,0 0 0,0 0 0,0-1 0,0 1 0,0 0 0,0 0 0,1 0 0,-1-1 0,0 1 0,0 0 0,1 0 0,-1-1 0,1 1 0,-1 0 0,1-1 0,-1 1 0,1 0 0,-1-1 0,1 1 0,-1-1 0,1 1 0,0-1 0,1 1 0,9 9 0,1-2 0,0 0 0,0 0 0,1-1 0,18 8 0,-17-9 0,0 0 0,-1 2 0,0-1 0,15 13 0,-28-20 0,0 0 0,0 0 0,0 0 0,0 0 0,0 1 0,0-1 0,1 0 0,-1 0 0,0 0 0,0 0 0,0 0 0,0 0 0,0 1 0,0-1 0,0 0 0,0 0 0,0 0 0,0 0 0,0 1 0,0-1 0,0 0 0,0 0 0,0 0 0,0 0 0,0 0 0,0 1 0,0-1 0,0 0 0,0 0 0,0 0 0,0 0 0,0 1 0,0-1 0,0 0 0,0 0 0,0 0 0,0 0 0,-1 0 0,1 0 0,0 1 0,0-1 0,0 0 0,0 0 0,0 0 0,0 0 0,-1 0 0,1 0 0,0 0 0,0 0 0,0 0 0,0 0 0,0 0 0,-1 0 0,1 1 0,0-1 0,0 0 0,0 0 0,0 0 0,-1 0 0,1 0 0,-19 3 0,-22-3 0,-80-8 0,-165-4 0,285 12 0,0 0 0,0-1 0,-1 1 0,1 0 0,0 0 0,-1 0 0,1 0 0,0 0 0,0 1 0,-1-1 0,1 0 0,0 1 0,0-1 0,-1 0 0,1 1 0,0 0 0,0-1 0,0 1 0,0 0 0,0-1 0,-2 3 0,4-2 0,-1 0 0,1 0 0,0 0 0,-1 0 0,1 0 0,0-1 0,0 1 0,0 0 0,0 0 0,0-1 0,0 1 0,0 0 0,0-1 0,0 1 0,0-1 0,0 1 0,2 0 0,60 22 0,-27-10 0,0-3 0,0-1 0,1-1 0,0-3 0,63 3 0,-89-12 0,-21-1 0,-24-5 0,-210-19 0,92 14 0,126 10 0,26 4 0,0 1 0,0 0 0,0 0 0,0 0 0,0 0 0,-1 0 0,1-1 0,0 1 0,0 0 0,0 0 0,0 0 0,0 0 0,0 0 0,0-1 0,0 1 0,1 0 0,-1 0 0,0 0 0,0 0 0,0-1 0,0 1 0,0 0 0,0 0 0,0 0 0,0 0 0,0 0 0,0 0 0,0-1 0,1 1 0,-1 0 0,0 0 0,0 0 0,0 0 0,0 0 0,0 0 0,0 0 0,1 0 0,-1 0 0,0 0 0,0 0 0,0 0 0,0-1 0,0 1 0,1 0 0,-1 0 0,0 0 0,0 0 0,0 0 0,0 0 0,1 0 0,-1 1 0,0-1 0,0 0 0,0 0 0,0 0 0,0 0 0,1 0 0,-1 0 0,0 0 0,0 0 0,49-4 0,147 3 0,-193 1 0,-1 0 0,0 0 0,1 0 0,-1 0 0,0-1 0,1 1 0,-1-1 0,0 1 0,0-1 0,0 0 0,1 0 0,-1 0 0,0 0 0,0 0 0,0-1 0,0 1 0,-1 0 0,1-1 0,0 0 0,-1 1 0,2-3 0,-2 2 0,-1 1 0,1-1 0,-1 0 0,0 0 0,0 1 0,0-1 0,0 0 0,0 1 0,0-1 0,-1 0 0,1 0 0,-1 1 0,1-1 0,-1 1 0,1-1 0,-1 0 0,0 1 0,0-1 0,0 1 0,0-1 0,0 1 0,0 0 0,0-1 0,0 1 0,0 0 0,-1 0 0,1 0 0,-2-1 0,-25-21 0,-1 1 0,-45-26 0,0 0 0,73 48 0,-1-1 0,1 0 0,0 0 0,0 0 0,-1 0 0,1 0 0,0 0 0,0 0 0,0 0 0,0 0 0,0-1 0,1 1 0,-1 0 0,0 0 0,1-1 0,-2-1 0,2 2 0,0 0 0,1 1 0,-1-1 0,0 1 0,0-1 0,0 0 0,0 1 0,1-1 0,-1 1 0,0-1 0,1 1 0,-1-1 0,0 1 0,1-1 0,-1 1 0,1-1 0,-1 1 0,1 0 0,-1-1 0,1 1 0,-1 0 0,1-1 0,-1 1 0,1 0 0,-1-1 0,2 1 0,53-11 0,-46 10 0,90-4 0,12-1 0,-109 3 0,-10-4 0,-10-2 0,-3 3 0,16 4 0,0 1 0,0-1 0,-1 1 0,1-2 0,1 1 0,-1 0 0,-5-4 0,9 5 0,1 1 0,0 0 0,0 0 0,0 0 0,0 0 0,0 0 0,0 0 0,0 0 0,0 0 0,-1-1 0,1 1 0,0 0 0,0 0 0,0 0 0,0 0 0,0 0 0,0 0 0,0-1 0,0 1 0,0 0 0,0 0 0,0 0 0,0 0 0,0 0 0,0-1 0,0 1 0,0 0 0,0 0 0,0 0 0,0 0 0,0 0 0,0-1 0,0 1 0,0 0 0,0 0 0,0 0 0,0 0 0,0 0 0,0 0 0,1-1 0,-1 1 0,0 0 0,0 0 0,0 0 0,0 0 0,0 0 0,0 0 0,0 0 0,1 0 0,-1 0 0,0 0 0,0-1 0,0 1 0,14-4 0,15 0 0,4 2 0,0 1 0,0 1 0,0 2 0,0 1 0,0 2 0,50 14 0,-82-18 0,-7-1 0,-21-3 0,-38-7 0,61 9 0,0 0 0,0 0 0,-1 1 0,1-1 0,0 1 0,0 0 0,-8 1 0,11-1 0,1 0 0,0 0 0,-1 1 0,1-1 0,0 0 0,0 0 0,-1 0 0,1 0 0,0 0 0,-1 0 0,1 1 0,0-1 0,0 0 0,-1 0 0,1 1 0,0-1 0,0 0 0,0 0 0,-1 1 0,1-1 0,0 0 0,0 0 0,0 1 0,0-1 0,-1 0 0,1 1 0,0-1 0,0 0 0,0 0 0,0 1 0,0-1 0,0 0 0,0 1 0,0-1 0,0 1 0,15 18 0,164 117 0,-178-135 0,0 0 0,0 0 0,0 1 0,-1-1 0,1 0 0,0 0 0,0 1 0,-1-1 0,1 1 0,-1-1 0,1 0 0,-1 1 0,0-1 0,1 1 0,-1-1 0,0 1 0,0-1 0,0 1 0,0-1 0,-1 4 0,-9 34 0,3-12 0,5-6 0,1 1 0,1 0 0,5 41 0,-4-45 0,0-16 0,-1 0 0,0 0 0,0 0 0,-1 0 0,1 0 0,0-1 0,-1 1 0,1 0 0,-1 0 0,1 0 0,-1 0 0,0-1 0,0 1 0,0 0 0,0-1 0,0 1 0,0-1 0,0 1 0,0-1 0,-1 1 0,1-1 0,-1 0 0,1 0 0,-1 0 0,1 0 0,-1 0 0,0 0 0,1 0 0,-1 0 0,0 0 0,0-1 0,0 1 0,0-1 0,1 0 0,-1 1 0,0-1 0,0 0 0,0 0 0,-3-1 0,-10 2 0,-1-2 0,1 0 0,-28-6 0,35 5 0,-64-14 0,1-4 0,0-3 0,-86-41 0,154 62 0,0 1 0,0 0 0,0-1 0,0 0 0,1 0 0,-1 0 0,1 0 0,-1 0 0,1 0 0,0 0 0,0-1 0,0 0 0,0 1 0,0-1 0,0 0 0,-1-3 0,3 5 0,-1 0 0,1 0 0,0 0 0,0 0 0,0 1 0,0-1 0,0 0 0,0 0 0,0 0 0,0 0 0,0 0 0,0 0 0,0 1 0,1-1 0,-1 0 0,0 0 0,1 0 0,-1 1 0,0-1 0,1 0 0,-1 0 0,2 0 0,-1-1 0,1 1 0,-1 0 0,1 0 0,-1 0 0,1 0 0,0 0 0,0 1 0,0-1 0,-1 0 0,1 1 0,0-1 0,0 1 0,0 0 0,2-1 0,48-1 0,-48 3 0,-33-1 0,9 0 0,15-1 0,0 0 0,0 1 0,0 0 0,0 0 0,0 0 0,0 1 0,0-1 0,0 1 0,0 0 0,-8 4 0,12-5 0,1 1 0,0 0 0,-1-1 0,1 1 0,0-1 0,0 1 0,0 0 0,-1-1 0,1 1 0,0 0 0,0-1 0,0 1 0,0 0 0,0 0 0,0-1 0,0 1 0,0 0 0,1-1 0,-1 1 0,0 0 0,0-1 0,0 1 0,1 0 0,-1-1 0,0 1 0,1-1 0,-1 1 0,1-1 0,-1 1 0,0-1 0,1 1 0,-1-1 0,1 1 0,0-1 0,-1 1 0,1-1 0,0 1 0,23 18 0,-23-18 0,20 10 0,1 0 0,0-1 0,1-1 0,0-1 0,1-1 0,0-1 0,0-1 0,28 2 0,-275-15 0,184 3 0,18 1 0,-1 2 0,1 0 0,-28 2 0,49 0 0,0 0 0,0 0 0,1 0 0,-1 0 0,0 0 0,0 0 0,0 0 0,0 0 0,0 0 0,0 0 0,0 0 0,1 0 0,-1 0 0,0 0 0,0 0 0,0 0 0,0 1 0,0-1 0,0 0 0,0 0 0,0 0 0,0 0 0,0 0 0,1 0 0,-1 0 0,0 0 0,0 0 0,0 0 0,0 0 0,0 1 0,0-1 0,0 0 0,0 0 0,0 0 0,0 0 0,0 0 0,0 0 0,0 0 0,0 1 0,0-1 0,0 0 0,0 0 0,0 0 0,0 0 0,0 0 0,0 0 0,0 0 0,0 0 0,0 1 0,0-1 0,0 0 0,0 0 0,0 0 0,0 0 0,-1 0 0,1 0 0,0 0 0,0 0 0,0 0 0,0 0 0,0 1 0,0-1 0,0 0 0,0 0 0,0 0 0,0 0 0,-1 0 0,17 9 0,16 7 0,-9-2 0,-23-13 0,-1-1 0,1 0 0,0 1 0,-1-1 0,1 1 0,0-1 0,-1 0 0,1 1 0,0-1 0,-1 0 0,1 0 0,0 1 0,-1-1 0,1 0 0,-1 0 0,1 0 0,-1 1 0,1-1 0,-1 0 0,1 0 0,0 0 0,-1 0 0,1 0 0,-1 0 0,1 0 0,-1 0 0,1 0 0,-1 0 0,0 0 0,-5 0 0,1 0 0,-1-1 0,1 1 0,-1-1 0,0 0 0,1 0 0,-9-3 0,8 2 15,0 0-1,0 1 1,0 0 0,-1 0-1,1 1 1,0 0-1,-1 0 1,-10 2-1,-33-3-1510,32-3-5330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25C93-EBFB-401D-8896-D43C25699E3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8613EC-0F3C-4E01-B057-78AA1B4A0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548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613EC-0F3C-4E01-B057-78AA1B4A0447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239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;p2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69960" y="1473120"/>
            <a:ext cx="6003720" cy="19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" name="Google Shape;12;p2"/>
          <p:cNvCxnSpPr/>
          <p:nvPr/>
        </p:nvCxnSpPr>
        <p:spPr>
          <a:xfrm>
            <a:off x="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3;p11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" name="Google Shape;54;p11"/>
          <p:cNvCxnSpPr/>
          <p:nvPr/>
        </p:nvCxnSpPr>
        <p:spPr>
          <a:xfrm>
            <a:off x="121140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39280" y="1761840"/>
            <a:ext cx="6575760" cy="104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70000"/>
              </a:lnSpc>
              <a:buNone/>
            </a:pPr>
            <a:r>
              <a:rPr lang="fr-FR" sz="7200" b="0" u="none" strike="noStrike">
                <a:solidFill>
                  <a:schemeClr val="lt1"/>
                </a:solidFill>
                <a:effectLst/>
                <a:uFillTx/>
                <a:latin typeface="Geist ExtraBold"/>
                <a:ea typeface="Geist ExtraBold"/>
              </a:rPr>
              <a:t>xx%</a:t>
            </a:r>
            <a:endParaRPr lang="fr-FR" sz="7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9;p13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139440" y="4144680"/>
            <a:ext cx="2775960" cy="76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654840" y="132084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Geist"/>
                <a:ea typeface="Geist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title"/>
          </p:nvPr>
        </p:nvSpPr>
        <p:spPr>
          <a:xfrm>
            <a:off x="654840" y="185184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Geist"/>
                <a:ea typeface="Geist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title"/>
          </p:nvPr>
        </p:nvSpPr>
        <p:spPr>
          <a:xfrm>
            <a:off x="654840" y="238284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Geist"/>
                <a:ea typeface="Geist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title"/>
          </p:nvPr>
        </p:nvSpPr>
        <p:spPr>
          <a:xfrm>
            <a:off x="654840" y="291384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Geist"/>
                <a:ea typeface="Geist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title"/>
          </p:nvPr>
        </p:nvSpPr>
        <p:spPr>
          <a:xfrm>
            <a:off x="4599720" y="132084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Geist"/>
                <a:ea typeface="Geist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title"/>
          </p:nvPr>
        </p:nvSpPr>
        <p:spPr>
          <a:xfrm>
            <a:off x="4599720" y="185184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Geist"/>
                <a:ea typeface="Geist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title"/>
          </p:nvPr>
        </p:nvSpPr>
        <p:spPr>
          <a:xfrm>
            <a:off x="4599720" y="238284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Geist"/>
                <a:ea typeface="Geist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9"/>
          <p:cNvSpPr>
            <a:spLocks noGrp="1"/>
          </p:cNvSpPr>
          <p:nvPr>
            <p:ph type="title"/>
          </p:nvPr>
        </p:nvSpPr>
        <p:spPr>
          <a:xfrm>
            <a:off x="4599720" y="291384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Geist"/>
                <a:ea typeface="Geist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7" name="Google Shape;77;p13"/>
          <p:cNvCxnSpPr/>
          <p:nvPr/>
        </p:nvCxnSpPr>
        <p:spPr>
          <a:xfrm>
            <a:off x="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79;p14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81920" y="1324080"/>
            <a:ext cx="5879520" cy="1066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0" name="Google Shape;82;p14"/>
          <p:cNvCxnSpPr/>
          <p:nvPr/>
        </p:nvCxnSpPr>
        <p:spPr>
          <a:xfrm>
            <a:off x="121140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84;p15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3" name="Google Shape;85;p15"/>
          <p:cNvCxnSpPr/>
          <p:nvPr/>
        </p:nvCxnSpPr>
        <p:spPr>
          <a:xfrm>
            <a:off x="121140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35440" y="527040"/>
            <a:ext cx="2840040" cy="75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687280" y="0"/>
            <a:ext cx="34567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90;p16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7" name="Google Shape;91;p16"/>
          <p:cNvCxnSpPr/>
          <p:nvPr/>
        </p:nvCxnSpPr>
        <p:spPr>
          <a:xfrm>
            <a:off x="121140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228600" y="320760"/>
            <a:ext cx="3420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00;p17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0" name="Google Shape;101;p17"/>
          <p:cNvCxnSpPr/>
          <p:nvPr/>
        </p:nvCxnSpPr>
        <p:spPr>
          <a:xfrm>
            <a:off x="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838040" y="331200"/>
            <a:ext cx="40770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112;p18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3" name="Google Shape;113;p18"/>
          <p:cNvCxnSpPr/>
          <p:nvPr/>
        </p:nvCxnSpPr>
        <p:spPr>
          <a:xfrm>
            <a:off x="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28600" y="331200"/>
            <a:ext cx="3564360" cy="666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116;p19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6" name="Google Shape;117;p19"/>
          <p:cNvCxnSpPr/>
          <p:nvPr/>
        </p:nvCxnSpPr>
        <p:spPr>
          <a:xfrm>
            <a:off x="121140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194800" y="649080"/>
            <a:ext cx="3713760" cy="1729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Google Shape;120;p19"/>
          <p:cNvSpPr/>
          <p:nvPr/>
        </p:nvSpPr>
        <p:spPr>
          <a:xfrm>
            <a:off x="249120" y="373572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Open Sans"/>
                <a:ea typeface="Open Sans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122;p20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0" name="Google Shape;123;p20"/>
          <p:cNvCxnSpPr/>
          <p:nvPr/>
        </p:nvCxnSpPr>
        <p:spPr>
          <a:xfrm>
            <a:off x="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14;p3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2" name="Google Shape;15;p3"/>
          <p:cNvCxnSpPr/>
          <p:nvPr/>
        </p:nvCxnSpPr>
        <p:spPr>
          <a:xfrm>
            <a:off x="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408840" y="2769120"/>
            <a:ext cx="5183640" cy="1261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title"/>
          </p:nvPr>
        </p:nvSpPr>
        <p:spPr>
          <a:xfrm>
            <a:off x="551160" y="1058760"/>
            <a:ext cx="4993560" cy="345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70000"/>
              </a:lnSpc>
              <a:buNone/>
            </a:pPr>
            <a:r>
              <a:rPr lang="fr-FR" sz="28000" b="0" u="none" strike="noStrike">
                <a:solidFill>
                  <a:schemeClr val="lt1"/>
                </a:solidFill>
                <a:effectLst/>
                <a:uFillTx/>
                <a:latin typeface="Geist ExtraBold"/>
                <a:ea typeface="Geist ExtraBold"/>
              </a:rPr>
              <a:t>xx%</a:t>
            </a:r>
            <a:endParaRPr lang="fr-FR" sz="28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125;p21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6" name="Google Shape;126;p21"/>
          <p:cNvCxnSpPr/>
          <p:nvPr/>
        </p:nvCxnSpPr>
        <p:spPr>
          <a:xfrm>
            <a:off x="121140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19;p4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228600" y="999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50" name="Google Shape;22;p4"/>
          <p:cNvCxnSpPr/>
          <p:nvPr/>
        </p:nvCxnSpPr>
        <p:spPr>
          <a:xfrm>
            <a:off x="121140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24;p5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2" name="Google Shape;25;p5"/>
          <p:cNvCxnSpPr/>
          <p:nvPr/>
        </p:nvCxnSpPr>
        <p:spPr>
          <a:xfrm>
            <a:off x="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26760" y="331200"/>
            <a:ext cx="28882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32;p6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350680" y="331200"/>
            <a:ext cx="3564360" cy="666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56" name="Google Shape;34;p6"/>
          <p:cNvCxnSpPr/>
          <p:nvPr/>
        </p:nvCxnSpPr>
        <p:spPr>
          <a:xfrm>
            <a:off x="121140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36;p7"/>
          <p:cNvPicPr/>
          <p:nvPr/>
        </p:nvPicPr>
        <p:blipFill>
          <a:blip r:embed="rId2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4763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59" name="Google Shape;39;p7"/>
          <p:cNvCxnSpPr/>
          <p:nvPr/>
        </p:nvCxnSpPr>
        <p:spPr>
          <a:xfrm>
            <a:off x="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41;p8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62" name="Google Shape;43;p8"/>
          <p:cNvCxnSpPr/>
          <p:nvPr/>
        </p:nvCxnSpPr>
        <p:spPr>
          <a:xfrm>
            <a:off x="121140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45;p9"/>
          <p:cNvPicPr/>
          <p:nvPr/>
        </p:nvPicPr>
        <p:blipFill>
          <a:blip r:embed="rId2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135520" y="1441800"/>
            <a:ext cx="4872600" cy="118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65" name="Google Shape;48;p9"/>
          <p:cNvCxnSpPr/>
          <p:nvPr/>
        </p:nvCxnSpPr>
        <p:spPr>
          <a:xfrm>
            <a:off x="0" y="300960"/>
            <a:ext cx="79329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132;p24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35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9.png"/><Relationship Id="rId4" Type="http://schemas.openxmlformats.org/officeDocument/2006/relationships/image" Target="../media/image60.png"/><Relationship Id="rId9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571760" y="1476360"/>
            <a:ext cx="6000480" cy="1990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73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 Java</a:t>
            </a:r>
            <a:endParaRPr lang="fr-FR" sz="73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73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 Basics</a:t>
            </a:r>
            <a:endParaRPr lang="fr-FR" sz="73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1930857" y="3384623"/>
            <a:ext cx="4400280" cy="361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Simple guide to core concepts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1652A22-1C6E-AEC1-E2F3-6FFBF7A3D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290" y="1023275"/>
            <a:ext cx="408577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Java is a high-level, object-oriented programming language developed by Sun Microsystems in 1995. It is mostly used for building desktop applications, web applications, Android apps and enterprise systems.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4" name="AutoShape 2" descr="features_of_java">
            <a:extLst>
              <a:ext uri="{FF2B5EF4-FFF2-40B4-BE49-F238E27FC236}">
                <a16:creationId xmlns:a16="http://schemas.microsoft.com/office/drawing/2014/main" id="{2A33AC85-1FF4-A370-0E07-D149764EFA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7000" y="-1866900"/>
            <a:ext cx="5708805" cy="2850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7CA111-1E52-C96E-22C5-12E7BF7F8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520" y="1055738"/>
            <a:ext cx="3607986" cy="20260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9683F4-4FC1-7777-D065-5D1446DAEFB6}"/>
              </a:ext>
            </a:extLst>
          </p:cNvPr>
          <p:cNvSpPr txBox="1"/>
          <p:nvPr/>
        </p:nvSpPr>
        <p:spPr>
          <a:xfrm>
            <a:off x="3219097" y="601812"/>
            <a:ext cx="2937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INTRODUCTION TO JAVA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5AAF86-CAF4-F936-4A9A-651F16090DE6}"/>
              </a:ext>
            </a:extLst>
          </p:cNvPr>
          <p:cNvSpPr txBox="1"/>
          <p:nvPr/>
        </p:nvSpPr>
        <p:spPr>
          <a:xfrm>
            <a:off x="863355" y="2697197"/>
            <a:ext cx="47114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Java isn’t just another language — it’s a cornerstone of large-scale systems. Banking, telecom, cloud platforms, Android apps, backend microservices — everywhere you turn, Java runs mission-critical workloads.</a:t>
            </a:r>
          </a:p>
        </p:txBody>
      </p:sp>
    </p:spTree>
    <p:extLst>
      <p:ext uri="{BB962C8B-B14F-4D97-AF65-F5344CB8AC3E}">
        <p14:creationId xmlns:p14="http://schemas.microsoft.com/office/powerpoint/2010/main" val="3300164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723404" y="751719"/>
            <a:ext cx="5876640" cy="40398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Class and Object</a:t>
            </a:r>
            <a:r>
              <a:rPr lang="fr-FR" sz="2600" dirty="0">
                <a:solidFill>
                  <a:schemeClr val="dk1"/>
                </a:solidFill>
                <a:latin typeface="Arial"/>
              </a:rPr>
              <a:t>  </a:t>
            </a: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Concepts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678197" y="1545742"/>
            <a:ext cx="4363703" cy="20313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en-US" sz="1600" dirty="0"/>
              <a:t>A class is a conceptual framework or blueprint used to define the characteristics and behavior of something. It represents a generalized idea or model and does not occupy memory until instantiated. A class describes:</a:t>
            </a:r>
          </a:p>
          <a:p>
            <a:r>
              <a:rPr lang="en-US" sz="1600" b="1" dirty="0"/>
              <a:t>Attributes</a:t>
            </a:r>
            <a:r>
              <a:rPr lang="en-US" sz="1600" dirty="0"/>
              <a:t> (data or properties)</a:t>
            </a:r>
          </a:p>
          <a:p>
            <a:r>
              <a:rPr lang="en-US" sz="1600" b="1" dirty="0"/>
              <a:t>Behaviors</a:t>
            </a:r>
            <a:r>
              <a:rPr lang="en-US" sz="1600" dirty="0"/>
              <a:t> (functions or actions)</a:t>
            </a:r>
          </a:p>
          <a:p>
            <a:r>
              <a:rPr lang="en-US" sz="1600" dirty="0"/>
              <a:t>It acts as a design specification. One class can generate multiple independent instances.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C5AAFE-551C-F62B-21F0-0E9F34CA1ADB}"/>
              </a:ext>
            </a:extLst>
          </p:cNvPr>
          <p:cNvSpPr txBox="1"/>
          <p:nvPr/>
        </p:nvSpPr>
        <p:spPr>
          <a:xfrm>
            <a:off x="5494256" y="1556087"/>
            <a:ext cx="33893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object is a tangible occurrence created from a class. It represents a real entity with actual stored data. Each object maintains its own set of values, even if created from the same class.</a:t>
            </a:r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EA1C655-567C-D654-ABC4-0FBBEDE222E8}"/>
              </a:ext>
            </a:extLst>
          </p:cNvPr>
          <p:cNvCxnSpPr/>
          <p:nvPr/>
        </p:nvCxnSpPr>
        <p:spPr>
          <a:xfrm>
            <a:off x="5149850" y="1433593"/>
            <a:ext cx="0" cy="25542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237960" y="523800"/>
            <a:ext cx="4334040" cy="47768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Variables and Data Types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228599" y="3039674"/>
            <a:ext cx="8719457" cy="167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fontAlgn="base"/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Variables store information and come in several types: local, instance, and static. Local variables exist within methods only. Instance variables belong to objects, and static variables belong to the class itself. Knowing their differences helps you manage data properly. </a:t>
            </a:r>
            <a:b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</a:br>
            <a:endParaRPr lang="en-US" sz="1200" b="0" u="none" strike="noStrike" dirty="0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  <a:p>
            <a:pPr fontAlgn="base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Data types in Java define the kind of data a variable can hold and the memory required to store it. They are broadly divided into two categories:</a:t>
            </a:r>
          </a:p>
          <a:p>
            <a:pPr fontAlgn="base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Primitive Data Types: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 Store simple values directly in memory.</a:t>
            </a:r>
          </a:p>
          <a:p>
            <a:pPr fontAlgn="base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Non-Primitive (Reference) Data Types: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 Store memory references to objects.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4" name="Picture 3" descr="A diagram of data types&#10;&#10;AI-generated content may be incorrect.">
            <a:extLst>
              <a:ext uri="{FF2B5EF4-FFF2-40B4-BE49-F238E27FC236}">
                <a16:creationId xmlns:a16="http://schemas.microsoft.com/office/drawing/2014/main" id="{0CE301FD-F253-D7B5-40E5-675412158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81314"/>
            <a:ext cx="3770086" cy="1846409"/>
          </a:xfrm>
          <a:prstGeom prst="rect">
            <a:avLst/>
          </a:prstGeom>
        </p:spPr>
      </p:pic>
      <p:pic>
        <p:nvPicPr>
          <p:cNvPr id="6" name="Picture 5" descr="A black arrows pointing to a black arrow&#10;&#10;AI-generated content may be incorrect.">
            <a:extLst>
              <a:ext uri="{FF2B5EF4-FFF2-40B4-BE49-F238E27FC236}">
                <a16:creationId xmlns:a16="http://schemas.microsoft.com/office/drawing/2014/main" id="{2333BE2D-C991-652A-2743-A4B3146D1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855" y="1088570"/>
            <a:ext cx="3330618" cy="803829"/>
          </a:xfrm>
          <a:prstGeom prst="rect">
            <a:avLst/>
          </a:prstGeom>
        </p:spPr>
      </p:pic>
      <p:pic>
        <p:nvPicPr>
          <p:cNvPr id="8" name="Picture 7" descr="A diagram of a type of variable&#10;&#10;AI-generated content may be incorrect.">
            <a:extLst>
              <a:ext uri="{FF2B5EF4-FFF2-40B4-BE49-F238E27FC236}">
                <a16:creationId xmlns:a16="http://schemas.microsoft.com/office/drawing/2014/main" id="{75E71D9A-D0A1-117A-300E-05FD8553D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4855" y="1880757"/>
            <a:ext cx="3330618" cy="10511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7032" y="1084598"/>
            <a:ext cx="5876640" cy="106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Methods and</a:t>
            </a:r>
            <a:r>
              <a:rPr lang="fr-FR" sz="2600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Blocks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479902" y="1722355"/>
            <a:ext cx="5276520" cy="129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00" dirty="0"/>
              <a:t>A method is a reusable unit of logic defined within a class. It encapsulates behavior and performs specific tasks when called. Methods enhance modularity, reduce redundancy, and enable clean architecture.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600" dirty="0">
              <a:solidFill>
                <a:srgbClr val="FFFFFF"/>
              </a:solidFill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</a:rPr>
              <a:t>A block is a group of statements enclosed within braces. Blocks define execution boundaries, control flow, and lifetime of variables declared inside them.</a:t>
            </a:r>
          </a:p>
        </p:txBody>
      </p:sp>
      <p:pic>
        <p:nvPicPr>
          <p:cNvPr id="3" name="Picture 2" descr="A computer code with text&#10;&#10;AI-generated content may be incorrect.">
            <a:extLst>
              <a:ext uri="{FF2B5EF4-FFF2-40B4-BE49-F238E27FC236}">
                <a16:creationId xmlns:a16="http://schemas.microsoft.com/office/drawing/2014/main" id="{111B1E3C-40EB-A7FB-E2BB-F926EF53A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114" y="1813698"/>
            <a:ext cx="2971006" cy="272655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C0DB03E-A1BD-1E99-EE26-1188F7888B61}"/>
              </a:ext>
            </a:extLst>
          </p:cNvPr>
          <p:cNvGrpSpPr/>
          <p:nvPr/>
        </p:nvGrpSpPr>
        <p:grpSpPr>
          <a:xfrm>
            <a:off x="7374299" y="2090097"/>
            <a:ext cx="147600" cy="387360"/>
            <a:chOff x="7344063" y="2089377"/>
            <a:chExt cx="14760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EAB209A-6BF9-08B7-F5C7-8CBF866B630B}"/>
                    </a:ext>
                  </a:extLst>
                </p14:cNvPr>
                <p14:cNvContentPartPr/>
                <p14:nvPr/>
              </p14:nvContentPartPr>
              <p14:xfrm>
                <a:off x="7344063" y="2089377"/>
                <a:ext cx="147600" cy="355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EAB209A-6BF9-08B7-F5C7-8CBF866B630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37943" y="2083257"/>
                  <a:ext cx="1598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CDCD199-C856-A12F-DB3A-42F244016B9A}"/>
                    </a:ext>
                  </a:extLst>
                </p14:cNvPr>
                <p14:cNvContentPartPr/>
                <p14:nvPr/>
              </p14:nvContentPartPr>
              <p14:xfrm>
                <a:off x="7393383" y="2416257"/>
                <a:ext cx="80640" cy="60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CDCD199-C856-A12F-DB3A-42F244016B9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87263" y="2410137"/>
                  <a:ext cx="92880" cy="7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76B31DA-84EE-6BAF-4522-45E716B31980}"/>
                  </a:ext>
                </a:extLst>
              </p14:cNvPr>
              <p14:cNvContentPartPr/>
              <p14:nvPr/>
            </p14:nvContentPartPr>
            <p14:xfrm>
              <a:off x="7299783" y="2053737"/>
              <a:ext cx="73800" cy="72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76B31DA-84EE-6BAF-4522-45E716B3198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93663" y="2047617"/>
                <a:ext cx="8604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F29B0DB-D25E-0F4B-C1EF-67FB53A39001}"/>
                  </a:ext>
                </a:extLst>
              </p14:cNvPr>
              <p14:cNvContentPartPr/>
              <p14:nvPr/>
            </p14:nvContentPartPr>
            <p14:xfrm>
              <a:off x="6357303" y="2612457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F29B0DB-D25E-0F4B-C1EF-67FB53A3900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51183" y="26063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32C3364-8AB6-6765-3350-105F2167F424}"/>
                  </a:ext>
                </a:extLst>
              </p14:cNvPr>
              <p14:cNvContentPartPr/>
              <p14:nvPr/>
            </p14:nvContentPartPr>
            <p14:xfrm>
              <a:off x="6298083" y="2588711"/>
              <a:ext cx="118440" cy="4298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32C3364-8AB6-6765-3350-105F2167F42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91963" y="2582591"/>
                <a:ext cx="130680" cy="44208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E742A85-D63C-880F-E847-A1B40DD77E44}"/>
              </a:ext>
            </a:extLst>
          </p:cNvPr>
          <p:cNvSpPr txBox="1"/>
          <p:nvPr/>
        </p:nvSpPr>
        <p:spPr>
          <a:xfrm>
            <a:off x="7649029" y="2044994"/>
            <a:ext cx="992579" cy="26161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Static Blocks</a:t>
            </a:r>
            <a:endParaRPr lang="en-IN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6A6608-213E-0F8D-D79E-756AD7F67294}"/>
              </a:ext>
            </a:extLst>
          </p:cNvPr>
          <p:cNvSpPr txBox="1"/>
          <p:nvPr/>
        </p:nvSpPr>
        <p:spPr>
          <a:xfrm>
            <a:off x="7949752" y="2667731"/>
            <a:ext cx="724878" cy="26161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Methods</a:t>
            </a:r>
            <a:endParaRPr lang="en-IN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702855" y="1621622"/>
            <a:ext cx="6200171" cy="173843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6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Java Memory &amp;</a:t>
            </a:r>
            <a:endParaRPr lang="fr-FR" sz="6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6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 Loading</a:t>
            </a:r>
            <a:endParaRPr lang="fr-FR" sz="6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D9B9D-F20C-E29D-ED25-EF92AD20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220" y="476456"/>
            <a:ext cx="5879520" cy="1066680"/>
          </a:xfrm>
        </p:spPr>
        <p:txBody>
          <a:bodyPr/>
          <a:lstStyle/>
          <a:p>
            <a:r>
              <a:rPr lang="en-US" sz="2800" dirty="0">
                <a:latin typeface="Geist"/>
              </a:rPr>
              <a:t>Java Architecture</a:t>
            </a:r>
            <a:endParaRPr lang="en-IN" sz="2800" dirty="0">
              <a:latin typeface="Geist"/>
            </a:endParaRPr>
          </a:p>
        </p:txBody>
      </p:sp>
      <p:pic>
        <p:nvPicPr>
          <p:cNvPr id="2050" name="Picture 2" descr="JDK JRE and JVM">
            <a:extLst>
              <a:ext uri="{FF2B5EF4-FFF2-40B4-BE49-F238E27FC236}">
                <a16:creationId xmlns:a16="http://schemas.microsoft.com/office/drawing/2014/main" id="{D0547FCA-F844-E0D7-FD48-DA21BB5249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38"/>
          <a:stretch>
            <a:fillRect/>
          </a:stretch>
        </p:blipFill>
        <p:spPr bwMode="auto">
          <a:xfrm>
            <a:off x="2001718" y="1135672"/>
            <a:ext cx="3451444" cy="1690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A06F8766-E1AD-EDA0-1DEE-668940E0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999" y="3051217"/>
            <a:ext cx="790786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 architecture is structured in three layers: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JDK (Java Development Kit)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tools and a compiler for building applications,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JRE (Java Runtime Environment)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supplies the necessary libraries to run them, and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JVM (Java Virtual Machine)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executes the compiled bytecode, managing memory and system abstraction, ensuring platform independence and the “write once, run anywhere” capability.</a:t>
            </a:r>
          </a:p>
        </p:txBody>
      </p:sp>
    </p:spTree>
    <p:extLst>
      <p:ext uri="{BB962C8B-B14F-4D97-AF65-F5344CB8AC3E}">
        <p14:creationId xmlns:p14="http://schemas.microsoft.com/office/powerpoint/2010/main" val="3822450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81200" y="990252"/>
            <a:ext cx="5876640" cy="58454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Class Loading</a:t>
            </a:r>
            <a:r>
              <a:rPr lang="fr-FR" sz="2600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Process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874019" y="1645849"/>
            <a:ext cx="7580552" cy="286809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Java loads classes into memory only when needed, which saves resources. Claas Loading includes three main steps loading , linking and initialization.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Loading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.class file is located and read into memory by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ClassLoader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Bytecode is loaded into JVM.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Linking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Verify → checks bytecode correctness &amp; security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Prepare → allocates memory for static variables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Resolve → replace symbolic references with actual memory references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Initialization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Initializes static variables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Executes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static blocks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Class loaders handle this behind the scenes, making sure your program runs smoothly.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198854" y="638968"/>
            <a:ext cx="4965411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JVM Heap and Object Storage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" name="Picture 4" descr="A diagram of a computer process&#10;&#10;AI-generated content may be incorrect.">
            <a:extLst>
              <a:ext uri="{FF2B5EF4-FFF2-40B4-BE49-F238E27FC236}">
                <a16:creationId xmlns:a16="http://schemas.microsoft.com/office/drawing/2014/main" id="{AE492187-EAA2-838B-802E-193CF26F2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091" y="1340423"/>
            <a:ext cx="3015649" cy="1424056"/>
          </a:xfrm>
          <a:prstGeom prst="rect">
            <a:avLst/>
          </a:prstGeom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AB76CCFD-4B1F-6C4D-C097-E7FE3DB30A0B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198854" y="3129589"/>
            <a:ext cx="749307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Java,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JVM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manages memory, with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storing all objects and class instances. Each new object gets memory in the heap, while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garbage collector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automatically frees unused objects. Local variables reside on the stack, but object data stays in the heap, ensuring efficient memory management, scalability, and safe, platform-independent execution of Java applications.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230650" y="998615"/>
            <a:ext cx="3870629" cy="60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Method Area</a:t>
            </a:r>
            <a:r>
              <a:rPr lang="fr-FR" sz="2600" dirty="0">
                <a:solidFill>
                  <a:schemeClr val="dk1"/>
                </a:solidFill>
                <a:latin typeface="Arial"/>
              </a:rPr>
              <a:t> E</a:t>
            </a: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xplained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4CD4C08A-DCBE-1274-F28E-5643CAD8AF25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230650" y="1954210"/>
            <a:ext cx="570280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 area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memory region in the JVM that stores class-level information, including class structure, method definitions, static variables, and runtime constants. It is shared across all objects of a class and exists for the lifetime of the application. The method area enables the JVM to access class metadata quickly and supports efficient execution of methods and static resources.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FC060-3A4A-79B7-383D-6347AF50A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402" y="1607107"/>
            <a:ext cx="5879520" cy="1066680"/>
          </a:xfrm>
        </p:spPr>
        <p:txBody>
          <a:bodyPr/>
          <a:lstStyle/>
          <a:p>
            <a:r>
              <a:rPr lang="en-US" dirty="0"/>
              <a:t>Advanced Java Topics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9685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114414" y="596522"/>
            <a:ext cx="5876640" cy="106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Inheritance and Abstract</a:t>
            </a:r>
            <a:r>
              <a:rPr lang="fr-FR" sz="2600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Classes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122" name="Picture 2" descr="Javarevisited: What is Abstract Class and Method in Java? Examples and  Frequently asked Questions">
            <a:extLst>
              <a:ext uri="{FF2B5EF4-FFF2-40B4-BE49-F238E27FC236}">
                <a16:creationId xmlns:a16="http://schemas.microsoft.com/office/drawing/2014/main" id="{D42E1281-7031-B1E4-576B-894BF2CFD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013" y="1194481"/>
            <a:ext cx="2597675" cy="1664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Java - Type of Inheritance with example">
            <a:extLst>
              <a:ext uri="{FF2B5EF4-FFF2-40B4-BE49-F238E27FC236}">
                <a16:creationId xmlns:a16="http://schemas.microsoft.com/office/drawing/2014/main" id="{58CBF403-1A6C-774D-1002-5A30575A1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213" y="2988913"/>
            <a:ext cx="2772301" cy="155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73E84266-0542-53DB-0EEA-A93EB1789663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114414" y="1411666"/>
            <a:ext cx="490667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Inheritance: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Inheritance allows a child class to acquire properties and methods from a parent class, promoting code reuse, reducing redundancy, and enabling hierarchical, scalable, and maintainable object-oriented design.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 Class: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abstract class cannot be instantiated and may include abstract and concrete methods. It serves as a template for subclasses, enforcing consistent design while allowing customized implementation.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093087" y="468869"/>
            <a:ext cx="5766265" cy="73297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Interfaces and </a:t>
            </a:r>
            <a:b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</a:b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Abstract Methods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 descr="A yellow box with black text&#10;&#10;AI-generated content may be incorrect.">
            <a:extLst>
              <a:ext uri="{FF2B5EF4-FFF2-40B4-BE49-F238E27FC236}">
                <a16:creationId xmlns:a16="http://schemas.microsoft.com/office/drawing/2014/main" id="{52F6B571-C393-6AF5-5A9A-6FEF40547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2" y="490879"/>
            <a:ext cx="2470108" cy="1421923"/>
          </a:xfrm>
          <a:prstGeom prst="rect">
            <a:avLst/>
          </a:prstGeom>
        </p:spPr>
      </p:pic>
      <p:pic>
        <p:nvPicPr>
          <p:cNvPr id="6146" name="Picture 2" descr="Java Interface and Abstract Class Tutorial With Examples">
            <a:extLst>
              <a:ext uri="{FF2B5EF4-FFF2-40B4-BE49-F238E27FC236}">
                <a16:creationId xmlns:a16="http://schemas.microsoft.com/office/drawing/2014/main" id="{74B2DD07-15C1-7D61-96A7-62E54AA2D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8741" y="1233715"/>
            <a:ext cx="1905259" cy="1850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diagram of a vehicle&#10;&#10;AI-generated content may be incorrect.">
            <a:extLst>
              <a:ext uri="{FF2B5EF4-FFF2-40B4-BE49-F238E27FC236}">
                <a16:creationId xmlns:a16="http://schemas.microsoft.com/office/drawing/2014/main" id="{5F69A34A-4F37-8895-70F3-141DED4F5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726" y="3084019"/>
            <a:ext cx="3214274" cy="1665621"/>
          </a:xfrm>
          <a:prstGeom prst="rect">
            <a:avLst/>
          </a:prstGeom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id="{62645955-AD9F-0B68-DCBB-1C4A74B4DC71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093087" y="1333320"/>
            <a:ext cx="445746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interface is a reference type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Java that defines a contract of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 methods a class must implement, enabling multiple inheritance and promoting abstraction, modularity, and consistent design across classes.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abstract method is a method without a body, declared in an abstract class or interface, requiring subclasses to provide specific implementation while enforcing design consistency.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E2DE1D-08F1-0FB3-6A7A-F629E615F9D9}"/>
              </a:ext>
            </a:extLst>
          </p:cNvPr>
          <p:cNvSpPr txBox="1"/>
          <p:nvPr/>
        </p:nvSpPr>
        <p:spPr>
          <a:xfrm>
            <a:off x="1154623" y="588936"/>
            <a:ext cx="538566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Polymorphism</a:t>
            </a:r>
            <a:endParaRPr lang="en-IN" sz="2600" dirty="0"/>
          </a:p>
        </p:txBody>
      </p:sp>
      <p:pic>
        <p:nvPicPr>
          <p:cNvPr id="5124" name="Picture 4" descr="Polymorphism in Python - Define, Types, Examples, and More">
            <a:extLst>
              <a:ext uri="{FF2B5EF4-FFF2-40B4-BE49-F238E27FC236}">
                <a16:creationId xmlns:a16="http://schemas.microsoft.com/office/drawing/2014/main" id="{9C6B8811-9D67-A6DD-29A4-72648C18E2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0" t="6478" r="6838" b="9152"/>
          <a:stretch>
            <a:fillRect/>
          </a:stretch>
        </p:blipFill>
        <p:spPr bwMode="auto">
          <a:xfrm>
            <a:off x="4990453" y="1081379"/>
            <a:ext cx="3918361" cy="252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7">
            <a:extLst>
              <a:ext uri="{FF2B5EF4-FFF2-40B4-BE49-F238E27FC236}">
                <a16:creationId xmlns:a16="http://schemas.microsoft.com/office/drawing/2014/main" id="{BC4FA8C2-EF4F-D11D-B8C2-AB008F77C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623" y="1177088"/>
            <a:ext cx="380483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Polymorphism is an object-oriented principle that allows objects or methods to take multiple forms. It includes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compile-time (method overloading)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runtime (method overriding)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polymorphism, enabling flexibility, dynamic behavior, and code reuse. Polymorphism simplifies program maintenance and enhances scalability by allowing uniform interfaces for different underlying implementations.</a:t>
            </a:r>
          </a:p>
        </p:txBody>
      </p:sp>
    </p:spTree>
    <p:extLst>
      <p:ext uri="{BB962C8B-B14F-4D97-AF65-F5344CB8AC3E}">
        <p14:creationId xmlns:p14="http://schemas.microsoft.com/office/powerpoint/2010/main" val="1256443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E60C60-EDA5-BAB4-2587-B86F7D6BC762}"/>
              </a:ext>
            </a:extLst>
          </p:cNvPr>
          <p:cNvSpPr txBox="1"/>
          <p:nvPr/>
        </p:nvSpPr>
        <p:spPr>
          <a:xfrm>
            <a:off x="1177871" y="474450"/>
            <a:ext cx="428528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Encapsulation</a:t>
            </a:r>
            <a:endParaRPr lang="en-IN" sz="2600" dirty="0"/>
          </a:p>
        </p:txBody>
      </p:sp>
      <p:pic>
        <p:nvPicPr>
          <p:cNvPr id="6148" name="Picture 4" descr="Encapsulation in OOPs by Logicmojo">
            <a:extLst>
              <a:ext uri="{FF2B5EF4-FFF2-40B4-BE49-F238E27FC236}">
                <a16:creationId xmlns:a16="http://schemas.microsoft.com/office/drawing/2014/main" id="{B0C55BB1-78D8-CE24-80D9-2A5256B72C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7" r="3828" b="4368"/>
          <a:stretch>
            <a:fillRect/>
          </a:stretch>
        </p:blipFill>
        <p:spPr bwMode="auto">
          <a:xfrm>
            <a:off x="4633993" y="1356102"/>
            <a:ext cx="4285282" cy="2637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D08D24-C672-8677-A269-B15A650606BB}"/>
              </a:ext>
            </a:extLst>
          </p:cNvPr>
          <p:cNvSpPr txBox="1"/>
          <p:nvPr/>
        </p:nvSpPr>
        <p:spPr>
          <a:xfrm>
            <a:off x="1177871" y="1061634"/>
            <a:ext cx="333213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Encapsulation is an object-oriented concept that restricts direct access to a class’s internal data by making variables private and exposing them through public getter and setter methods. It ensures </a:t>
            </a:r>
            <a:r>
              <a:rPr lang="en-US" b="1" dirty="0"/>
              <a:t>data security, integrity, and controlled modification</a:t>
            </a:r>
            <a:r>
              <a:rPr lang="en-US" dirty="0"/>
              <a:t>, promotes modular design, and simplifies maintenance by hiding implementation details from external code.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114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198855" y="449943"/>
            <a:ext cx="6046726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Static vs Instance Members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E7FC8C1-A380-54E8-E4C1-F50125030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573" y="449943"/>
            <a:ext cx="3562016" cy="45538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77627D6-A401-4319-7440-6CD9B52A76BD}"/>
                  </a:ext>
                </a:extLst>
              </p14:cNvPr>
              <p14:cNvContentPartPr/>
              <p14:nvPr/>
            </p14:nvContentPartPr>
            <p14:xfrm>
              <a:off x="6803343" y="4759857"/>
              <a:ext cx="657720" cy="208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77627D6-A401-4319-7440-6CD9B52A76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97223" y="4753737"/>
                <a:ext cx="669960" cy="2210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Subtitle 1">
            <a:extLst>
              <a:ext uri="{FF2B5EF4-FFF2-40B4-BE49-F238E27FC236}">
                <a16:creationId xmlns:a16="http://schemas.microsoft.com/office/drawing/2014/main" id="{E3BB58A9-3316-49E0-2D20-95E23BE4258D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198855" y="936784"/>
            <a:ext cx="4093816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Java,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 members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belong to the class itself and are shared across all objects, accessible without creating an instance, making them suitable for common, class-level functionality. In contrast,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instance members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belong to individual objects; each object has its own copy of variables, and instance methods operate on object-specific data, enabling unique behavior per instance. Static members provide shared, consistent state, while instance members allow flexibility and encapsulation of object-specific information, together supporting both global and object-level design within a class.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069768" y="603746"/>
            <a:ext cx="4711100" cy="555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Constructors and Construct Chaining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1179270" y="1109664"/>
            <a:ext cx="4281895" cy="129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/>
              <a:t>A constructor is a special method in Java used to initialize objects when they are created. It has the same name as the class, does not have a return type, and can be </a:t>
            </a:r>
            <a:r>
              <a:rPr lang="en-US" sz="1200" b="1" dirty="0"/>
              <a:t>parameterized or default</a:t>
            </a:r>
            <a:r>
              <a:rPr lang="en-US" sz="1200" dirty="0"/>
              <a:t>. Constructors ensure objects start in a valid, predictable state.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FBCECFC-DDFB-2F31-C784-DA1E170EB1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625"/>
          <a:stretch>
            <a:fillRect/>
          </a:stretch>
        </p:blipFill>
        <p:spPr>
          <a:xfrm>
            <a:off x="5586994" y="383801"/>
            <a:ext cx="3514955" cy="2881086"/>
          </a:xfrm>
          <a:prstGeom prst="rect">
            <a:avLst/>
          </a:prstGeom>
        </p:spPr>
      </p:pic>
      <p:pic>
        <p:nvPicPr>
          <p:cNvPr id="5" name="Picture 4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0278974B-ED22-76CC-98A8-8CD5A5CF6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38" y="2686111"/>
            <a:ext cx="2810679" cy="20863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159DB5-36F0-9814-38BF-770349614E58}"/>
              </a:ext>
            </a:extLst>
          </p:cNvPr>
          <p:cNvSpPr txBox="1"/>
          <p:nvPr/>
        </p:nvSpPr>
        <p:spPr>
          <a:xfrm>
            <a:off x="8118988" y="3264887"/>
            <a:ext cx="9829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Constructors</a:t>
            </a:r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48A978-15B9-28DC-CE2B-F07F9D458DE8}"/>
              </a:ext>
            </a:extLst>
          </p:cNvPr>
          <p:cNvSpPr txBox="1"/>
          <p:nvPr/>
        </p:nvSpPr>
        <p:spPr>
          <a:xfrm>
            <a:off x="1069768" y="4772500"/>
            <a:ext cx="14782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Constructor chaining</a:t>
            </a:r>
            <a:endParaRPr lang="en-IN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A1E1C8-29D9-5052-7648-D15195653A4A}"/>
              </a:ext>
            </a:extLst>
          </p:cNvPr>
          <p:cNvSpPr txBox="1"/>
          <p:nvPr/>
        </p:nvSpPr>
        <p:spPr>
          <a:xfrm>
            <a:off x="3425318" y="3468483"/>
            <a:ext cx="49127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Constructor chaining occurs when a constructor calls another constructor within the same class or parent class, promoting code reuse and consistent object initialization.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036297" y="502959"/>
            <a:ext cx="4194628" cy="106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Inner Classes and Collection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Frameworks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ubTitle"/>
          </p:nvPr>
        </p:nvSpPr>
        <p:spPr>
          <a:xfrm>
            <a:off x="1092234" y="1412184"/>
            <a:ext cx="4262429" cy="129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dirty="0">
                <a:latin typeface="Arial (Body)"/>
                <a:ea typeface="Calibri" panose="020F0502020204030204" pitchFamily="34" charset="0"/>
                <a:cs typeface="Calibri" panose="020F0502020204030204" pitchFamily="34" charset="0"/>
              </a:rPr>
              <a:t>Inner classes are defined within another class and can access its members, enabling logical grouping, better encapsulation, and more readable, maintainable code, especially for event handling or helper functionality.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 (Body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diagram of a tree model&#10;&#10;AI-generated content may be incorrect.">
            <a:extLst>
              <a:ext uri="{FF2B5EF4-FFF2-40B4-BE49-F238E27FC236}">
                <a16:creationId xmlns:a16="http://schemas.microsoft.com/office/drawing/2014/main" id="{9A79B0E7-B838-C41D-FF89-D933D5C05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780" y="536530"/>
            <a:ext cx="3292611" cy="1834711"/>
          </a:xfrm>
          <a:prstGeom prst="rect">
            <a:avLst/>
          </a:prstGeom>
        </p:spPr>
      </p:pic>
      <p:pic>
        <p:nvPicPr>
          <p:cNvPr id="5" name="Picture 4" descr="A diagram of a code&#10;&#10;AI-generated content may be incorrect.">
            <a:extLst>
              <a:ext uri="{FF2B5EF4-FFF2-40B4-BE49-F238E27FC236}">
                <a16:creationId xmlns:a16="http://schemas.microsoft.com/office/drawing/2014/main" id="{226EE8F9-DD45-7F65-EAAD-083897858C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85" y="2895282"/>
            <a:ext cx="3603630" cy="21282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A23C27-453A-1049-0540-4980DC7549A3}"/>
              </a:ext>
            </a:extLst>
          </p:cNvPr>
          <p:cNvSpPr txBox="1"/>
          <p:nvPr/>
        </p:nvSpPr>
        <p:spPr>
          <a:xfrm>
            <a:off x="4208186" y="3199426"/>
            <a:ext cx="47657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Java Collection Framework provides </a:t>
            </a:r>
            <a:r>
              <a:rPr lang="en-US" sz="1600" b="1" dirty="0"/>
              <a:t>predefined interfaces and classes</a:t>
            </a:r>
            <a:r>
              <a:rPr lang="en-US" sz="1600" dirty="0"/>
              <a:t> like List, Set, and Map for storing, accessing, and manipulating groups of objects efficiently, supporting dynamic data structures and algorithmic operations.</a:t>
            </a:r>
            <a:endParaRPr lang="en-IN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29B2F-B3CE-4290-936C-8C21F2EF7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177" y="467737"/>
            <a:ext cx="2686994" cy="606320"/>
          </a:xfrm>
        </p:spPr>
        <p:txBody>
          <a:bodyPr/>
          <a:lstStyle/>
          <a:p>
            <a:r>
              <a:rPr lang="en-US" sz="3200" dirty="0"/>
              <a:t>Stream API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0D08BC-A239-D4DD-6234-45DA202CE08B}"/>
              </a:ext>
            </a:extLst>
          </p:cNvPr>
          <p:cNvSpPr txBox="1"/>
          <p:nvPr/>
        </p:nvSpPr>
        <p:spPr>
          <a:xfrm>
            <a:off x="535177" y="1069364"/>
            <a:ext cx="675825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The </a:t>
            </a:r>
            <a:r>
              <a:rPr lang="en-US" sz="1100" b="1" dirty="0"/>
              <a:t>Stream API</a:t>
            </a:r>
            <a:r>
              <a:rPr lang="en-US" sz="1100" dirty="0"/>
              <a:t> was introduced in </a:t>
            </a:r>
            <a:r>
              <a:rPr lang="en-US" sz="1100" b="1" dirty="0"/>
              <a:t>Java 8</a:t>
            </a:r>
            <a:r>
              <a:rPr lang="en-US" sz="1100" dirty="0"/>
              <a:t> to process collections of data in a </a:t>
            </a:r>
            <a:r>
              <a:rPr lang="en-US" sz="1100" b="1" dirty="0"/>
              <a:t>functional</a:t>
            </a:r>
            <a:r>
              <a:rPr lang="en-US" sz="1100" dirty="0"/>
              <a:t> and </a:t>
            </a:r>
            <a:r>
              <a:rPr lang="en-US" sz="1100" b="1" dirty="0"/>
              <a:t>declarative</a:t>
            </a:r>
            <a:r>
              <a:rPr lang="en-US" sz="1100" dirty="0"/>
              <a:t> way.</a:t>
            </a:r>
          </a:p>
          <a:p>
            <a:r>
              <a:rPr lang="en-US" sz="1100" dirty="0"/>
              <a:t>A </a:t>
            </a:r>
            <a:r>
              <a:rPr lang="en-US" sz="1100" b="1" dirty="0"/>
              <a:t>Stream</a:t>
            </a:r>
            <a:r>
              <a:rPr lang="en-US" sz="1100" dirty="0"/>
              <a:t> is a sequence of elements that supports </a:t>
            </a:r>
            <a:r>
              <a:rPr lang="en-US" sz="1100" b="1" dirty="0"/>
              <a:t>aggregate operations</a:t>
            </a:r>
            <a:r>
              <a:rPr lang="en-US" sz="1100" dirty="0"/>
              <a:t> (filtering, mapping, reducing, etc.)</a:t>
            </a:r>
          </a:p>
          <a:p>
            <a:r>
              <a:rPr lang="en-US" sz="1100" dirty="0"/>
              <a:t>It </a:t>
            </a:r>
            <a:r>
              <a:rPr lang="en-US" sz="1100" b="1" dirty="0"/>
              <a:t>does not store data</a:t>
            </a:r>
            <a:r>
              <a:rPr lang="en-US" sz="1100" dirty="0"/>
              <a:t> — it operates on existing collections like List, Set, or arrays.</a:t>
            </a:r>
          </a:p>
          <a:p>
            <a:r>
              <a:rPr lang="en-US" sz="1100" dirty="0"/>
              <a:t>Streams </a:t>
            </a:r>
            <a:r>
              <a:rPr lang="en-US" sz="1100" b="1" dirty="0"/>
              <a:t>do not modify original data</a:t>
            </a:r>
            <a:r>
              <a:rPr lang="en-US" sz="1100" dirty="0"/>
              <a:t>; they produce a new result.</a:t>
            </a:r>
          </a:p>
          <a:p>
            <a:r>
              <a:rPr lang="en-US" sz="1100" dirty="0"/>
              <a:t>Streams allow </a:t>
            </a:r>
            <a:r>
              <a:rPr lang="en-US" sz="1100" b="1" dirty="0"/>
              <a:t>parallel processing</a:t>
            </a:r>
            <a:r>
              <a:rPr lang="en-US" sz="1100" dirty="0"/>
              <a:t> for faster computation.</a:t>
            </a:r>
          </a:p>
          <a:p>
            <a:endParaRPr lang="en-US" sz="1100" dirty="0"/>
          </a:p>
          <a:p>
            <a:r>
              <a:rPr lang="en-US" sz="1100" b="1" dirty="0"/>
              <a:t>Stream Pipeline Structure </a:t>
            </a:r>
          </a:p>
          <a:p>
            <a:r>
              <a:rPr lang="en-US" sz="1100" dirty="0"/>
              <a:t>Source -&gt; Intermediate Operation -&gt; Terminal Operation </a:t>
            </a:r>
          </a:p>
          <a:p>
            <a:r>
              <a:rPr lang="en-US" sz="1100" dirty="0"/>
              <a:t>                                                                 </a:t>
            </a:r>
          </a:p>
          <a:p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		                 Intermediate operations are those which do not consume</a:t>
            </a:r>
            <a:br>
              <a:rPr lang="en-US" sz="1100" dirty="0"/>
            </a:br>
            <a:r>
              <a:rPr lang="en-US" sz="1100" dirty="0"/>
              <a:t>		                 the stream whereas terminal operations consumes the</a:t>
            </a:r>
            <a:br>
              <a:rPr lang="en-US" sz="1100" dirty="0"/>
            </a:br>
            <a:r>
              <a:rPr lang="en-US" sz="1100" dirty="0"/>
              <a:t>		                 stream and we have to reinitialize the stream for performing other</a:t>
            </a:r>
            <a:br>
              <a:rPr lang="en-US" sz="1100" dirty="0"/>
            </a:br>
            <a:r>
              <a:rPr lang="en-US" sz="1100" dirty="0"/>
              <a:t>		                 operations.</a:t>
            </a:r>
          </a:p>
          <a:p>
            <a:r>
              <a:rPr lang="en-US" sz="1100" dirty="0"/>
              <a:t>			</a:t>
            </a:r>
            <a:br>
              <a:rPr lang="en-US" sz="1100" dirty="0"/>
            </a:br>
            <a:r>
              <a:rPr lang="en-US" sz="1100" dirty="0"/>
              <a:t>			</a:t>
            </a:r>
            <a:r>
              <a:rPr lang="en-US" sz="1100" dirty="0" err="1"/>
              <a:t>Eg.</a:t>
            </a:r>
            <a:r>
              <a:rPr lang="en-US" sz="1100" dirty="0"/>
              <a:t> Of terminal operations are – collect(), reduce(),sum().</a:t>
            </a:r>
          </a:p>
          <a:p>
            <a:r>
              <a:rPr lang="en-US" sz="1100" dirty="0"/>
              <a:t>			</a:t>
            </a:r>
            <a:r>
              <a:rPr lang="en-US" sz="1100" dirty="0" err="1"/>
              <a:t>Eg.</a:t>
            </a:r>
            <a:r>
              <a:rPr lang="en-US" sz="1100" dirty="0"/>
              <a:t> Of Intermediate operations are – map(),filter(), sorted().</a:t>
            </a:r>
          </a:p>
          <a:p>
            <a:endParaRPr lang="en-IN" dirty="0"/>
          </a:p>
        </p:txBody>
      </p:sp>
      <p:pic>
        <p:nvPicPr>
          <p:cNvPr id="6" name="Picture 5" descr="A screenshot of a program&#10;&#10;AI-generated content may be incorrect.">
            <a:extLst>
              <a:ext uri="{FF2B5EF4-FFF2-40B4-BE49-F238E27FC236}">
                <a16:creationId xmlns:a16="http://schemas.microsoft.com/office/drawing/2014/main" id="{233E87DA-F403-6352-E3C0-D440D7BDB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317" y="1750259"/>
            <a:ext cx="2782339" cy="1464656"/>
          </a:xfrm>
          <a:prstGeom prst="rect">
            <a:avLst/>
          </a:prstGeom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63D2860-0186-2809-0E50-CF43F08B6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3" y="2838542"/>
            <a:ext cx="2421196" cy="131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542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171265" y="593543"/>
            <a:ext cx="680147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Lambda Expressions and Functional Interfaces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88A3754-8DDB-4AB3-683B-6FB7FB773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492" y="1137888"/>
            <a:ext cx="4767943" cy="2639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77233D-8C63-59FA-4864-C7D1191C006E}"/>
              </a:ext>
            </a:extLst>
          </p:cNvPr>
          <p:cNvSpPr txBox="1"/>
          <p:nvPr/>
        </p:nvSpPr>
        <p:spPr>
          <a:xfrm>
            <a:off x="1171265" y="1200595"/>
            <a:ext cx="27586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functional interface has exactly one abstract method, serving as a target for lambda expressions and enabling concise functional programming.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4C0D15-B28C-387B-D2F6-22E4B1A6D42A}"/>
              </a:ext>
            </a:extLst>
          </p:cNvPr>
          <p:cNvSpPr txBox="1"/>
          <p:nvPr/>
        </p:nvSpPr>
        <p:spPr>
          <a:xfrm>
            <a:off x="1171265" y="3541363"/>
            <a:ext cx="40705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lambda expression is an anonymous function implementing a functional interface, simplifying code, improving readability, and supporting functional-style operations.</a:t>
            </a:r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122162" y="673152"/>
            <a:ext cx="5876640" cy="106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Geist"/>
                <a:ea typeface="Geist"/>
              </a:rPr>
              <a:t>Conclusion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EEC47D81-8612-9D4E-568A-BA53C52F05DA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261993" y="2016471"/>
            <a:ext cx="741705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 is a versatile, object-oriented language offering platform independence via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JDK, JRE, and JVM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With features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inheritance, polymorphism, encapsulation, abstraction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tools like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Collection Framework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lambda expressions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it enables modular, maintainable, and scalable applications, making it ideal for enterprise, mobile, and cloud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Roadmaps by Slidesgo">
  <a:themeElements>
    <a:clrScheme name="Simple Light">
      <a:dk1>
        <a:srgbClr val="FFFFFF"/>
      </a:dk1>
      <a:lt1>
        <a:srgbClr val="13332D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595</TotalTime>
  <Words>1476</Words>
  <Application>Microsoft Office PowerPoint</Application>
  <PresentationFormat>On-screen Show (16:9)</PresentationFormat>
  <Paragraphs>94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arial</vt:lpstr>
      <vt:lpstr>arial</vt:lpstr>
      <vt:lpstr>Arial (Body)</vt:lpstr>
      <vt:lpstr>Calibri</vt:lpstr>
      <vt:lpstr>Geist</vt:lpstr>
      <vt:lpstr>Geist ExtraBold</vt:lpstr>
      <vt:lpstr>Open Sans</vt:lpstr>
      <vt:lpstr>OpenSymbol</vt:lpstr>
      <vt:lpstr>Symbol</vt:lpstr>
      <vt:lpstr>Wingdings</vt:lpstr>
      <vt:lpstr>Project Roadmaps by Slidesgo</vt:lpstr>
      <vt:lpstr>Slidesgo Final Pages</vt:lpstr>
      <vt:lpstr> Java  Basics</vt:lpstr>
      <vt:lpstr>PowerPoint Presentation</vt:lpstr>
      <vt:lpstr>Class and Object  Concepts</vt:lpstr>
      <vt:lpstr>Variables and Data Types</vt:lpstr>
      <vt:lpstr>Methods and Blocks</vt:lpstr>
      <vt:lpstr>Java Memory &amp;  Loading</vt:lpstr>
      <vt:lpstr>Java Architecture</vt:lpstr>
      <vt:lpstr>Class Loading Process</vt:lpstr>
      <vt:lpstr>JVM Heap and Object Storage</vt:lpstr>
      <vt:lpstr>Method Area Explained</vt:lpstr>
      <vt:lpstr>Advanced Java Topics   </vt:lpstr>
      <vt:lpstr>Inheritance and Abstract Classes</vt:lpstr>
      <vt:lpstr>Interfaces and  Abstract Methods</vt:lpstr>
      <vt:lpstr>PowerPoint Presentation</vt:lpstr>
      <vt:lpstr>PowerPoint Presentation</vt:lpstr>
      <vt:lpstr>Static vs Instance Members</vt:lpstr>
      <vt:lpstr>Constructors and Construct Chaining</vt:lpstr>
      <vt:lpstr>Inner Classes and Collection Frameworks</vt:lpstr>
      <vt:lpstr>Stream API</vt:lpstr>
      <vt:lpstr>Lambda Expressions and Functional Interfaces</vt:lpstr>
      <vt:lpstr>Conclusion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Anna dutta</cp:lastModifiedBy>
  <cp:revision>4</cp:revision>
  <dcterms:modified xsi:type="dcterms:W3CDTF">2025-12-09T07:54:52Z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2025-12-06T03:22:47Z</dcterms:created>
  <dc:creator>Unknown Creator</dc:creator>
  <dc:description/>
  <dc:language>en-US</dc:language>
  <cp:lastModifiedBy>Unknown Creator</cp:lastModifiedBy>
  <dcterms:modified xsi:type="dcterms:W3CDTF">2025-12-06T03:22:47Z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